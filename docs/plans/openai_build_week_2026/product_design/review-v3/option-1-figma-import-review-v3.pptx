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037d0d176b4d81" /><Relationship Type="http://schemas.openxmlformats.org/officeDocument/2006/relationships/extended-properties" Target="/docProps/app.xml" Id="Rec2e40c161f34978" /><Relationship Type="http://schemas.openxmlformats.org/officeDocument/2006/relationships/officeDocument" Target="/ppt/presentation.xml" Id="Reecbcf4340bb4a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4b70a1a7a45ae"/>
  </p:sldMasterIdLst>
  <p:notesMasterIdLst>
    <p:notesMasterId xmlns:r="http://schemas.openxmlformats.org/officeDocument/2006/relationships" r:id="R641fbf03fb884e6a"/>
  </p:notesMasterIdLst>
  <p:sldIdLst>
    <p:sldId xmlns:r="http://schemas.openxmlformats.org/officeDocument/2006/relationships" id="256" r:id="R6797d91a65e24935"/>
    <p:sldId xmlns:r="http://schemas.openxmlformats.org/officeDocument/2006/relationships" id="257" r:id="Rf9e2f49ca8e2444c"/>
    <p:sldId xmlns:r="http://schemas.openxmlformats.org/officeDocument/2006/relationships" id="258" r:id="R1f309ae5dbeb485c"/>
  </p:sldIdLst>
  <p:sldSz cx="146304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2941da3614b59" /><Relationship Type="http://schemas.openxmlformats.org/officeDocument/2006/relationships/slideMaster" Target="/ppt/slideMasters/slideMaster1.xml" Id="R7a04b70a1a7a45ae" /><Relationship Type="http://schemas.openxmlformats.org/officeDocument/2006/relationships/notesMaster" Target="/ppt/notesMasters/notesMaster1.xml" Id="R641fbf03fb884e6a" /><Relationship Type="http://schemas.openxmlformats.org/officeDocument/2006/relationships/presProps" Target="/ppt/presProps.xml" Id="R84c3984056df4009" /><Relationship Type="http://schemas.openxmlformats.org/officeDocument/2006/relationships/tableStyles" Target="/ppt/tableStyles.xml" Id="R05422c953c364d51" /><Relationship Type="http://schemas.openxmlformats.org/officeDocument/2006/relationships/slide" Target="/ppt/slides/slide1.xml" Id="R6797d91a65e24935" /><Relationship Type="http://schemas.openxmlformats.org/officeDocument/2006/relationships/slide" Target="/ppt/slides/slide2.xml" Id="Rf9e2f49ca8e2444c" /><Relationship Type="http://schemas.openxmlformats.org/officeDocument/2006/relationships/slide" Target="/ppt/slides/slide3.xml" Id="R1f309ae5dbeb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8f3e868a5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bf963198f420a" /><Relationship Type="http://schemas.openxmlformats.org/officeDocument/2006/relationships/notesMaster" Target="/ppt/notesMasters/notesMaster1.xml" Id="Rb379926a387a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6f622f51f48f4" /><Relationship Type="http://schemas.openxmlformats.org/officeDocument/2006/relationships/notesMaster" Target="/ppt/notesMasters/notesMaster1.xml" Id="R540999ecd19f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d347921e0245b2" /><Relationship Type="http://schemas.openxmlformats.org/officeDocument/2006/relationships/notesMaster" Target="/ppt/notesMasters/notesMaster1.xml" Id="Rd89ed906b4ed44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5b1b1982c4b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1e7d744f6943ad" /><Relationship Type="http://schemas.openxmlformats.org/officeDocument/2006/relationships/slideLayout" Target="/ppt/slideLayouts/slideLayout1.xml" Id="R0ec742859e0c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742859e0c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2fc99807b4ad8" /><Relationship Type="http://schemas.openxmlformats.org/officeDocument/2006/relationships/image" Target="/ppt/media/image.png" Id="Ra5b7fa91724b4a2a" /><Relationship Type="http://schemas.openxmlformats.org/officeDocument/2006/relationships/notesSlide" Target="/ppt/notesSlides/notesSlide1.xml" Id="R11937a354c21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3dda56e34d4b" /><Relationship Type="http://schemas.openxmlformats.org/officeDocument/2006/relationships/notesSlide" Target="/ppt/notesSlides/notesSlide2.xml" Id="Reee7fe333334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1c4409ee24e9f" /><Relationship Type="http://schemas.openxmlformats.org/officeDocument/2006/relationships/image" Target="/ppt/media/image2.png" Id="Rd41992b7aa064cfc" /><Relationship Type="http://schemas.openxmlformats.org/officeDocument/2006/relationships/notesSlide" Target="/ppt/notesSlides/notesSlide3.xml" Id="Rdf2e8e3aa5374e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AC5BB-2E4D-4BCC-A35A-8728766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341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5EEDB"/>
                </a:solidFill>
              </a:defRPr>
            </a:pPr>
            <a:r>
              <a:rPr sz="3600" b="1" i="0">
                <a:solidFill>
                  <a:srgbClr val="F5EEDB"/>
                </a:solidFill>
              </a:rPr>
              <a:t>The patch passed. The evidence still said no.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BDB51-9A12-42BC-A2A6-872A662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DB0C8"/>
                </a:solidFill>
              </a:defRPr>
            </a:pPr>
            <a:r>
              <a:rPr sz="1425" b="0" i="0">
                <a:solidFill>
                  <a:srgbClr val="9DB0C8"/>
                </a:solidFill>
              </a:rPr>
              <a:t>Judge Mission + Playthrough Inspector — competition review board backed by one signed replay bundle.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1FFB4-6701-4A0F-9433-F5AB0A7D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41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E22FA-318C-4591-9148-08D5AEA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58400" cy="67056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7fa91724b4a2a"/>
          <a:stretch xmlns:a="http://schemas.openxmlformats.org/drawingml/2006/main"/>
        </p:blipFill>
        <p:spPr>
          <a:xfrm xmlns:a="http://schemas.openxmlformats.org/drawingml/2006/main">
            <a:off x="723900" y="2133600"/>
            <a:ext cx="9829800" cy="6553200"/>
          </a:xfrm>
          <a:prstGeom xmlns:a="http://schemas.openxmlformats.org/drawingml/2006/main" prst="roundRect">
            <a:avLst>
              <a:gd name="adj" fmla="val 11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E0F15-E4B2-4489-81E4-F20BCB58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14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8D6D2"/>
                </a:solidFill>
              </a:defRPr>
            </a:pPr>
            <a:r>
              <a:rPr sz="1050" b="1" i="0">
                <a:solidFill>
                  <a:srgbClr val="38D6D2"/>
                </a:solidFill>
              </a:rPr>
              <a:t>JUDGE 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8147C-EB2B-4FB1-B518-69D67A9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95550"/>
            <a:ext cx="2971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F5EEDB"/>
                </a:solidFill>
              </a:defRPr>
            </a:pPr>
            <a:r>
              <a:rPr sz="2625" b="1" i="0">
                <a:solidFill>
                  <a:srgbClr val="F5EEDB"/>
                </a:solidFill>
              </a:rPr>
              <a:t>Reproducible</a:t>
            </a:r>
          </a:p>
          <a:p xmlns:a="http://schemas.openxmlformats.org/drawingml/2006/main">
            <a:pPr>
              <a:defRPr sz="2625" b="1" i="0">
                <a:solidFill>
                  <a:srgbClr val="F5EEDB"/>
                </a:solidFill>
              </a:defRPr>
            </a:pPr>
            <a:r>
              <a:rPr sz="2625" b="1" i="0">
                <a:solidFill>
                  <a:srgbClr val="F5EEDB"/>
                </a:solidFill>
              </a:rPr>
              <a:t>does not mean</a:t>
            </a:r>
          </a:p>
          <a:p xmlns:a="http://schemas.openxmlformats.org/drawingml/2006/main">
            <a:pPr>
              <a:defRPr sz="2625" b="1" i="0">
                <a:solidFill>
                  <a:srgbClr val="F5EEDB"/>
                </a:solidFill>
              </a:defRPr>
            </a:pPr>
            <a:r>
              <a:rPr sz="2625" b="1" i="0">
                <a:solidFill>
                  <a:srgbClr val="F5EEDB"/>
                </a:solidFill>
              </a:rPr>
              <a:t>acceptable.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7AD6C-2F70-4ABE-9B33-4DBCEB1B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9DB0C8"/>
                </a:solidFill>
              </a:defRPr>
            </a:pPr>
            <a:r>
              <a:rPr sz="1350" b="0" i="0">
                <a:solidFill>
                  <a:srgbClr val="9DB0C8"/>
                </a:solidFill>
              </a:rPr>
              <a:t>Money was configured to prioritize income and career. The observed career-tag rate was only 0.4386% — then every seed collapsed.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CFD6C-4D51-4229-AA1C-7C5485BF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292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64F47-8C41-4F74-BDE9-61D989D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57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7BE0A8"/>
                </a:solidFill>
              </a:defRPr>
            </a:pPr>
            <a:r>
              <a:rPr sz="2175" b="1" i="0">
                <a:solidFill>
                  <a:srgbClr val="7BE0A8"/>
                </a:solidFill>
              </a:rPr>
              <a:t>18 /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5487A-7E07-4A39-B312-5C044C9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743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cells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93856-7AD6-486A-8EB2-118690B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5EEDB"/>
                </a:solidFill>
              </a:defRPr>
            </a:pPr>
            <a:r>
              <a:rPr sz="2175" b="1" i="0">
                <a:solidFill>
                  <a:srgbClr val="F5EEDB"/>
                </a:solidFill>
              </a:rPr>
              <a:t>342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72FD1-6F7F-42F5-BE8E-300A4DD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2769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week 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13A57-D110-4DC1-B26D-7F141C12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7246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5EEDB"/>
                </a:solidFill>
              </a:defRPr>
            </a:pPr>
            <a:r>
              <a:rPr sz="2175" b="1" i="0">
                <a:solidFill>
                  <a:srgbClr val="F5EEDB"/>
                </a:solidFill>
              </a:rPr>
              <a:t>324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9BDEB-74DC-4284-887D-4636839F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8103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actual edges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85056-4EEE-4C04-85E9-A95B4C5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580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5EEDB"/>
                </a:solidFill>
              </a:defRPr>
            </a:pPr>
            <a:r>
              <a:rPr sz="2175" b="1" i="0">
                <a:solidFill>
                  <a:srgbClr val="F5EEDB"/>
                </a:solidFill>
              </a:rPr>
              <a:t>1,336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A8CBC-0543-4284-92CB-BFBEA63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3437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evidence refs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20C72-58FB-484F-B17E-648FA687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924800"/>
            <a:ext cx="2952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3B45"/>
          </a:solidFill>
          <a:ln xmlns:a="http://schemas.openxmlformats.org/drawingml/2006/main" w="9525">
            <a:solidFill>
              <a:srgbClr val="153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CC0C7-74B9-48AD-8484-3E46824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9724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8D6D2"/>
                </a:solidFill>
              </a:defRPr>
            </a:pPr>
            <a:r>
              <a:rPr sz="975" b="1" i="0">
                <a:solidFill>
                  <a:srgbClr val="38D6D2"/>
                </a:solidFill>
              </a:rPr>
              <a:t>PRERECORDED · REAL GODOT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55C76-F699-4F8F-B2C1-A7CB51F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3629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9DB0C8"/>
                </a:solidFill>
              </a:defRPr>
            </a:pPr>
            <a:r>
              <a:rPr sz="1050" b="0" i="0">
                <a:solidFill>
                  <a:srgbClr val="9DB0C8"/>
                </a:solidFill>
              </a:rPr>
              <a:t>Truth boundary: replay proves reproducibility — not a fresh OpenAI call.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72B56-8BE9-47AD-9B82-20EBC159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15425"/>
            <a:ext cx="1341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BE55"/>
                </a:solidFill>
              </a:defRPr>
            </a:pPr>
            <a:r>
              <a:rPr sz="1125" b="1" i="0">
                <a:solidFill>
                  <a:srgbClr val="FFBE55"/>
                </a:solidFill>
              </a:rPr>
              <a:t>REVIEW GATE · approve the story and interaction states before frontend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8458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43F15F-38CC-4431-9233-2212D765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341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5EEDB"/>
                </a:solidFill>
              </a:defRPr>
            </a:pPr>
            <a:r>
              <a:rPr sz="3600" b="1" i="0">
                <a:solidFill>
                  <a:srgbClr val="F5EEDB"/>
                </a:solidFill>
              </a:rPr>
              <a:t>One signed replay answers six review states.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D67D5-CD08-47B6-ADE9-E698EBF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DB0C8"/>
                </a:solidFill>
              </a:defRPr>
            </a:pPr>
            <a:r>
              <a:rPr sz="1425" b="0" i="0">
                <a:solidFill>
                  <a:srgbClr val="9DB0C8"/>
                </a:solidFill>
              </a:rPr>
              <a:t>Every number, node and transition below is traceable to the committed playthrough-v1 evidence bundle.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1A82A-085E-4432-A780-9117134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41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44411-8457-44AF-AE1F-4E762EF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96C36-FA51-4776-A8E0-8AB3E5B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D2"/>
          </a:solidFill>
          <a:ln xmlns:a="http://schemas.openxmlformats.org/drawingml/2006/main" w="0">
            <a:solidFill>
              <a:srgbClr val="38D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37F2C-2D20-4630-B285-BE2D048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38D6D2"/>
                </a:solidFill>
              </a:defRPr>
            </a:pPr>
            <a:r>
              <a:rPr sz="2250" b="1" i="0">
                <a:solidFill>
                  <a:srgbClr val="38D6D2"/>
                </a:solidFill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B8FCD-F552-4074-924A-9BA78A9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145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Judge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3AAE1-FC53-4A20-82AD-DC1BE07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Campaign proof before spectacle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43E6E-674A-4C68-AA4B-E0B0885A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229AB-B5C5-4639-BBCC-1A3638B0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18/18 cells · 342 weeks · 324 actual edges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1.0 valid · zero fallback · 18 target members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Decision: reproducible campaign, rejected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A22AB-E270-4558-90BC-7A08F88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022AA-E43A-4D02-8897-D3E3D97F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8597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702D2-FC48-48E7-A2F6-E49E0E63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860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BE55"/>
                </a:solidFill>
              </a:defRPr>
            </a:pPr>
            <a:r>
              <a:rPr sz="2250" b="1" i="0">
                <a:solidFill>
                  <a:srgbClr val="FFBE55"/>
                </a:solidFill>
              </a:rPr>
              <a:t>S2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05229-D324-4496-91EC-8E4C0DC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145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Money hover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F3E8F-1E0E-4825-85F1-8FA74B8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194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Strategy contract vs observed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6807D-B584-4B46-965D-125E978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B4820-5AF7-4A9C-9843-E3B086A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4805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Goal: income + career + survival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Observed career tag: 0.4386%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First attractor: W3 / W3 / W6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All 3 seeds: cashflow_collapse.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4E6F6-FBBD-4BBA-95F4-E85D5DCF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04C2D-AB41-4C08-9E18-117951F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8597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A8"/>
          </a:solidFill>
          <a:ln xmlns:a="http://schemas.openxmlformats.org/drawingml/2006/main" w="0">
            <a:solidFill>
              <a:srgbClr val="7BE0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D5D42-391D-43C5-9884-B9929EB5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860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7BE0A8"/>
                </a:solidFill>
              </a:defRPr>
            </a:pPr>
            <a:r>
              <a:rPr sz="2250" b="1" i="0">
                <a:solidFill>
                  <a:srgbClr val="7BE0A8"/>
                </a:solidFill>
              </a:rPr>
              <a:t>S3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F76B0-E5E3-4DC0-85AA-D4405AC1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145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Persona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F2BE5-32B2-4B46-B44E-5EEA760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194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Evidence, not invented ability scores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C569B-D873-4132-8B20-A3A17FA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9565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6BD16-D24F-400D-A726-9522F05B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Show contract, priorities, risk tolerance, action-tag rates, seeds and ending distribution.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Click opens a traceable detail drawer; no subjective intelligence rating.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E1509-50C6-46CF-B128-B408DB73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E6BB6-6360-4727-945D-07737E4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2922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D2"/>
          </a:solidFill>
          <a:ln xmlns:a="http://schemas.openxmlformats.org/drawingml/2006/main" w="0">
            <a:solidFill>
              <a:srgbClr val="38D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A73DD-C133-4BA8-905F-9659AAB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38D6D2"/>
                </a:solidFill>
              </a:defRPr>
            </a:pPr>
            <a:r>
              <a:rPr sz="2250" b="1" i="0">
                <a:solidFill>
                  <a:srgbClr val="38D6D2"/>
                </a:solidFill>
              </a:rPr>
              <a:t>S4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CFD34-B964-48E3-9362-C9866431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5782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Inspector · W1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478AE-FCD0-49AB-8B39-4B1E4FB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The route begins with a real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B11AF-CFB6-4E91-A47B-AB93EC8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DB68B-734A-44AF-9A61-1267BD7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Arrival → ‘go buy essentials now’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Money 500→142 · Energy 100→48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Stress 20→32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Source line 1 · hash 4d66dd4714fe…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91E028-3C50-42A5-8DDB-8E406BBA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1970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1378D-4139-4965-AEEF-64025B08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2922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1CD38C-9628-439C-8F5F-9C3B75C0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292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BE55"/>
                </a:solidFill>
              </a:defRPr>
            </a:pPr>
            <a:r>
              <a:rPr sz="2250" b="1" i="0">
                <a:solidFill>
                  <a:srgbClr val="FFBE55"/>
                </a:solidFill>
              </a:rPr>
              <a:t>S5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6C70B-C3EA-4B8F-858C-ACAEC4D3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5782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Inspector · W3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F3756-3589-47F3-835B-45A3204A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626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First cashflow-stress attractor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4233E8-F66F-4BFE-8027-58B00ECE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389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332E21-9DD3-4C2C-AC2B-7D05ADC2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9130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Missing school registration → International Office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Stress 49→82 · Hunger 39→73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Arrears 373→628 · shortfall 2→3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Source line 3 · hash 4041083497b4…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FAD229-3F75-4481-8579-2ECABC70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19700"/>
            <a:ext cx="42291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BEB867-C8BC-4E0B-BFD9-F95AE552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29225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FF6B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5E31F3-503B-4405-9888-B53D4E8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292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6B5F"/>
                </a:solidFill>
              </a:defRPr>
            </a:pPr>
            <a:r>
              <a:rPr sz="2250" b="1" i="0">
                <a:solidFill>
                  <a:srgbClr val="FF6B5F"/>
                </a:solidFill>
              </a:rPr>
              <a:t>S6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32E6B2-E372-4A39-A386-BED3146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5782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5EEDB"/>
                </a:solidFill>
              </a:defRPr>
            </a:pPr>
            <a:r>
              <a:rPr sz="1725" b="1" i="0">
                <a:solidFill>
                  <a:srgbClr val="F5EEDB"/>
                </a:solidFill>
              </a:rPr>
              <a:t>Inspector · W19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62F3C8-D717-4C62-81FA-FA789D73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9626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The ending is unavoidable and auditable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962BEC-9600-44BD-9105-441A329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38900"/>
            <a:ext cx="377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F2E06B-144B-4BF8-9233-E3D9B18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91300"/>
            <a:ext cx="3771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After-exam void → safe handling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Money 0 · Hunger 100 · Stress 96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Arrears 3,862 · shortfall 16</a:t>
            </a:r>
          </a:p>
          <a:p xmlns:a="http://schemas.openxmlformats.org/drawingml/2006/main">
            <a:pPr>
              <a:defRPr sz="1200" b="0" i="0">
                <a:solidFill>
                  <a:srgbClr val="9DB0C8"/>
                </a:solidFill>
              </a:defRPr>
            </a:pPr>
            <a:r>
              <a:rPr sz="1200" b="0" i="0">
                <a:solidFill>
                  <a:srgbClr val="9DB0C8"/>
                </a:solidFill>
              </a:rPr>
              <a:t>Ending: cashflow_collapse · e0458a9d636e…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3D8BE3-B014-450F-B695-2074085C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01050"/>
            <a:ext cx="1341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E207E3-6CB6-4857-A343-FFF33FF9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91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8D6D2"/>
                </a:solidFill>
              </a:defRPr>
            </a:pPr>
            <a:r>
              <a:rPr sz="1050" b="1" i="0">
                <a:solidFill>
                  <a:srgbClr val="38D6D2"/>
                </a:solidFill>
              </a:rPr>
              <a:t>PATH SEMANTICS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00B591-CB2B-4FBF-85BA-CF39BB96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572500"/>
            <a:ext cx="1183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solid edge = recorded transition   ·   avatar position = current week   ·   amber = attractor   ·   coral = terminal failure   ·   logs = signed source excerpt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FA1DDE-85D5-490F-8EA8-1D0AACB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0"/>
            <a:ext cx="1341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F5EEDB"/>
                </a:solidFill>
              </a:defRPr>
            </a:pPr>
            <a:r>
              <a:rPr sz="1125" b="0" i="0">
                <a:solidFill>
                  <a:srgbClr val="F5EEDB"/>
                </a:solidFill>
              </a:rPr>
              <a:t>Controls: Previous / Next / Play · keyboard ← → Space · reduced-motion mode must preserve state clarity</a:t>
            </a:r>
          </a:p>
        </p:txBody>
      </p:sp>
    </p:spTree>
    <p:extLst>
      <p:ext uri="{BB962C8B-B14F-4D97-AF65-F5344CB8AC3E}">
        <p14:creationId xmlns:p14="http://schemas.microsoft.com/office/powerpoint/2010/main" val="1067909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469C0-7E24-46CB-94F1-8980E18F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341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5EEDB"/>
                </a:solidFill>
              </a:defRPr>
            </a:pPr>
            <a:r>
              <a:rPr sz="3600" b="1" i="0">
                <a:solidFill>
                  <a:srgbClr val="F5EEDB"/>
                </a:solidFill>
              </a:rPr>
              <a:t>Six strategies become one readable playback language.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7A34A-F856-4B09-849F-95868AB0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9DB0C8"/>
                </a:solidFill>
              </a:defRPr>
            </a:pPr>
            <a:r>
              <a:rPr sz="1425" b="0" i="0">
                <a:solidFill>
                  <a:srgbClr val="9DB0C8"/>
                </a:solidFill>
              </a:rPr>
              <a:t>Chibi people carry strategy identity; evidence panels carry the facts. No Codex mascot and no decorative path presented as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F9038-3352-4933-80E0-3B8A1957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41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EF49-5210-46C6-955C-B14F82E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058400" cy="67056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101C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992b7aa064cfc"/>
          <a:stretch xmlns:a="http://schemas.openxmlformats.org/drawingml/2006/main"/>
        </p:blipFill>
        <p:spPr>
          <a:xfrm xmlns:a="http://schemas.openxmlformats.org/drawingml/2006/main">
            <a:off x="723900" y="2133600"/>
            <a:ext cx="9829800" cy="6553200"/>
          </a:xfrm>
          <a:prstGeom xmlns:a="http://schemas.openxmlformats.org/drawingml/2006/main" prst="roundRect">
            <a:avLst>
              <a:gd name="adj" fmla="val 11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E667D-252F-499E-A024-24DCB5C5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14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8D6D2"/>
                </a:solidFill>
              </a:defRPr>
            </a:pPr>
            <a:r>
              <a:rPr sz="1050" b="1" i="0">
                <a:solidFill>
                  <a:srgbClr val="38D6D2"/>
                </a:solidFill>
              </a:rPr>
              <a:t>MOTION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76ED1-D723-4CB8-BCAC-F7BFD00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527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EEDB"/>
                </a:solidFill>
              </a:defRPr>
            </a:pPr>
            <a:r>
              <a:rPr sz="1500" b="1" i="0">
                <a:solidFill>
                  <a:srgbClr val="F5EEDB"/>
                </a:solidFill>
              </a:rPr>
              <a:t>Idle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02AFD-AC29-4D09-AA70-B0E623B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571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subtle breathing; no metric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0F43A-C5C0-4012-A5AB-52EB5E0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99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BE55"/>
                </a:solidFill>
              </a:defRPr>
            </a:pPr>
            <a:r>
              <a:rPr sz="1500" b="1" i="0">
                <a:solidFill>
                  <a:srgbClr val="FFBE55"/>
                </a:solidFill>
              </a:rPr>
              <a:t>Hover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35AA1-6DCC-4985-97AE-5B0AFE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0289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amber outline + observed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58B7B-6E64-44AD-94DE-E54468F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814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38D6D2"/>
                </a:solidFill>
              </a:defRPr>
            </a:pPr>
            <a:r>
              <a:rPr sz="1500" b="1" i="0">
                <a:solidFill>
                  <a:srgbClr val="38D6D2"/>
                </a:solidFill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AD7FB-E736-4565-8264-DE829E0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04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teal pedestal locks active persona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578F1-B326-4509-9D88-82CC852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529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BE0A8"/>
                </a:solidFill>
              </a:defRPr>
            </a:pPr>
            <a:r>
              <a:rPr sz="1500" b="1" i="0">
                <a:solidFill>
                  <a:srgbClr val="7BE0A8"/>
                </a:solidFill>
              </a:rPr>
              <a:t>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E250-9F25-4369-B88C-DBCEC80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719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advance only across recorded edges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D9C-B44C-440E-9CD7-12C49E7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244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5EEDB"/>
                </a:solidFill>
              </a:defRPr>
            </a:pPr>
            <a:r>
              <a:rPr sz="1500" b="1" i="0">
                <a:solidFill>
                  <a:srgbClr val="F5EEDB"/>
                </a:solidFill>
              </a:rPr>
              <a:t>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91401-08A8-4BB7-8721-F92D0CC7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7434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9DB0C8"/>
                </a:solidFill>
              </a:defRPr>
            </a:pPr>
            <a:r>
              <a:rPr sz="1125" b="0" i="0">
                <a:solidFill>
                  <a:srgbClr val="9DB0C8"/>
                </a:solidFill>
              </a:rPr>
              <a:t>drawer opens exact evidence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6C17D-8944-41E7-8806-8BA6231D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292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E18A5-166E-41D1-8A42-BA9BF05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578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8D6D2"/>
                </a:solidFill>
              </a:defRPr>
            </a:pPr>
            <a:r>
              <a:rPr sz="1050" b="1" i="0">
                <a:solidFill>
                  <a:srgbClr val="38D6D2"/>
                </a:solidFill>
              </a:rPr>
              <a:t>PERSONA-SPECIFIC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C1D3D-D00C-4355-9FB3-276B9403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2952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9DB0C8"/>
                </a:solidFill>
              </a:defRPr>
            </a:pPr>
            <a:r>
              <a:rPr sz="1275" b="0" i="0">
                <a:solidFill>
                  <a:srgbClr val="9DB0C8"/>
                </a:solidFill>
              </a:rPr>
              <a:t>Money is the default demo persona because its contract/behavior mismatch is clearest.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9DB0C8"/>
                </a:solidFill>
              </a:defRPr>
            </a:pPr>
            <a:r>
              <a:rPr sz="1275" b="0" i="0">
                <a:solidFill>
                  <a:srgbClr val="9DB0C8"/>
                </a:solidFill>
              </a:rPr>
              <a:t>Slacker stays seated: use chair glide/roll instead of a generic walk 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9DB0C8"/>
                </a:solidFill>
              </a:defRPr>
            </a:pPr>
            <a:r>
              <a:rPr sz="1275" b="0" i="0">
                <a:solidFill>
                  <a:srgbClr val="9DB0C8"/>
                </a:solidFill>
              </a:rPr>
              <a:t>Coral is reserved for terminal risk; hover remains amber.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D7DD5-FFF4-47BD-91CF-4C57A84D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420100"/>
            <a:ext cx="2952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A2424"/>
          </a:solidFill>
          <a:ln xmlns:a="http://schemas.openxmlformats.org/drawingml/2006/main" w="9525">
            <a:solidFill>
              <a:srgbClr val="3A24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5BCB0-D784-4753-AF27-A72C82C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84677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6B5F"/>
                </a:solidFill>
              </a:defRPr>
            </a:pPr>
            <a:r>
              <a:rPr sz="975" b="1" i="0">
                <a:solidFill>
                  <a:srgbClr val="FF6B5F"/>
                </a:solidFill>
              </a:rPr>
              <a:t>DECORATIVE ROUTES ≠ TEST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55006-14E5-405C-9BDD-AEBC3C06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15425"/>
            <a:ext cx="1341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BE55"/>
                </a:solidFill>
              </a:defRPr>
            </a:pPr>
            <a:r>
              <a:rPr sz="1125" b="1" i="0">
                <a:solidFill>
                  <a:srgbClr val="FFBE55"/>
                </a:solidFill>
              </a:rPr>
              <a:t>Approval required: story · interaction states · persona language · path semantics</a:t>
            </a:r>
          </a:p>
        </p:txBody>
      </p:sp>
    </p:spTree>
    <p:extLst>
      <p:ext uri="{BB962C8B-B14F-4D97-AF65-F5344CB8AC3E}">
        <p14:creationId xmlns:p14="http://schemas.microsoft.com/office/powerpoint/2010/main" val="23794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2026-07-17T07:13:52.9220000Z</dcterms:created>
  <dcterms:modified xsi:type="dcterms:W3CDTF">2026-07-17T07:13:52.9220000Z</dcterms:modified>
</coreProperties>
</file>